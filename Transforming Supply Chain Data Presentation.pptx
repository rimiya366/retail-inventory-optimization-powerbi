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Plus Jakarta Sans SemiBold" panose="020B0604020202020204" charset="0"/>
      <p:regular r:id="rId21"/>
      <p:bold r:id="rId22"/>
      <p:italic r:id="rId23"/>
      <p:boldItalic r:id="rId24"/>
    </p:embeddedFont>
    <p:embeddedFont>
      <p:font typeface="Playfair Display" panose="020B0604020202020204" charset="0"/>
      <p:regular r:id="rId25"/>
      <p:bold r:id="rId26"/>
      <p:italic r:id="rId27"/>
      <p:boldItalic r:id="rId28"/>
    </p:embeddedFont>
    <p:embeddedFont>
      <p:font typeface="Plus Jakarta Sans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50AC84-4786-4743-982B-5C3C9C9D7400}">
  <a:tblStyle styleId="{A550AC84-4786-4743-982B-5C3C9C9D74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45343" y="2290762"/>
            <a:ext cx="10501312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Transforming Supply Chain Data into Actionable Store-Level Insights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709987"/>
            <a:ext cx="7620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3-Tier Business Intelligence Application for Predictive Demand and Inventory Control, mapping transactional data to physical retail operations.</a:t>
            </a: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8930640" y="4846320"/>
            <a:ext cx="2743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Playfair Display" panose="020B0604020202020204" charset="0"/>
              </a:rPr>
              <a:t>Presented by:</a:t>
            </a:r>
          </a:p>
          <a:p>
            <a:r>
              <a:rPr lang="en-US" dirty="0">
                <a:solidFill>
                  <a:schemeClr val="tx1"/>
                </a:solidFill>
                <a:latin typeface="Playfair Display" panose="020B060402020202020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Playfair Display" panose="020B0604020202020204" charset="0"/>
              </a:rPr>
              <a:t>           RIMIYA RIMSHI K M</a:t>
            </a:r>
          </a:p>
          <a:p>
            <a:r>
              <a:rPr lang="en-US" dirty="0" smtClean="0">
                <a:solidFill>
                  <a:schemeClr val="tx1"/>
                </a:solidFill>
                <a:latin typeface="Playfair Display" panose="020B0604020202020204" charset="0"/>
              </a:rPr>
              <a:t>             DATA SCIENCE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082998"/>
            <a:ext cx="52387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82998"/>
            <a:ext cx="523875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6750" y="476250"/>
            <a:ext cx="11401425" cy="3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Business Problem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66750" y="956220"/>
            <a:ext cx="10858500" cy="19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266825" y="2378273"/>
            <a:ext cx="456057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4530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Capital Lockup &amp; Carrying Costs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2806898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Retail operations face severe financial friction due to unoptimized inventory distribution networks: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86575" y="2378273"/>
            <a:ext cx="456057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4530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Forecast-Sales Disconnection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2806898"/>
            <a:ext cx="46482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severe operational gap exists between macro planning forecasts and local storefront actions: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1637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52525" y="3378398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Massive Overstock Surplus: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Corporate buffer margins systematically overstock regional warehouses, locking up crucial working capital.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3873698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Static Safety Thresholds: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Relying on static purchase orders ignores short-term regional volatility and demand deceleration.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4368998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Financial Friction: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Unsold stock racks up high carrying costs, reducing overall liquidity and shelf agility.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41637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772275" y="3378398"/>
            <a:ext cx="44577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Decoupled Forecasting: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Demand planners generate aggregate seasonal curves that deviate heavily from actual localized store consumption.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72275" y="4073723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Information Asymmetry: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Store managers lack access to high-level analytical dashboards, leading to execution failures.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72275" y="4569023"/>
            <a:ext cx="44577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Local Action Plans: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Visual data is rarely translated into direct task instructions, leaving shelf stock unbalanced and competitive pricing unaligned.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2025" y="3397448"/>
            <a:ext cx="57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2025" y="3892748"/>
            <a:ext cx="57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62025" y="4388048"/>
            <a:ext cx="57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81775" y="3397448"/>
            <a:ext cx="57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81775" y="4092773"/>
            <a:ext cx="57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81775" y="4588073"/>
            <a:ext cx="57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362075"/>
            <a:ext cx="3460700" cy="2131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1362075"/>
            <a:ext cx="3460700" cy="2131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362075"/>
            <a:ext cx="3460849" cy="213136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/>
          <p:nvPr/>
        </p:nvSpPr>
        <p:spPr>
          <a:xfrm>
            <a:off x="666750" y="60960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57250" y="571500"/>
            <a:ext cx="45405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Three-Tier Framework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641931" y="2228850"/>
            <a:ext cx="151018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Tier 1: Executive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85825" y="2600325"/>
            <a:ext cx="3022550" cy="59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Macro-level visibility tracking overall revenue and absolute stockout risk vectors across our regional supply hubs.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365759" y="2228850"/>
            <a:ext cx="146018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Tier 2: Planning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584650" y="2600325"/>
            <a:ext cx="3022550" cy="59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statistical demand metrics refining forecasting logic to decrease error margins in high-volume regions.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964721" y="2228850"/>
            <a:ext cx="166020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Tier 3: Operations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283475" y="2600325"/>
            <a:ext cx="3022699" cy="59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Granular live-action grids translated specifically to direct localized storefront execution points daily.</a:t>
            </a:r>
            <a:endParaRPr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44625" y="16954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3451" y="16954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3375" y="1695450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4919662" y="2557462"/>
            <a:ext cx="2352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TIER 1 DASHBOARD FOCUS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395287" y="2747962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Executive Inventory Overview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2524125" y="3529012"/>
            <a:ext cx="7143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Analyzing macro performance, localized revenue drivers, and supply chain health based on metrics visualized in Screenshot 2026-06-19 210514.png.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0" y="4281487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75904"/>
            <a:ext cx="257175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0" y="2475904"/>
            <a:ext cx="257175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475904"/>
            <a:ext cx="257175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53500" y="2475904"/>
            <a:ext cx="257175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3952279"/>
            <a:ext cx="5238750" cy="121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952279"/>
            <a:ext cx="5238750" cy="121443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66750" y="476250"/>
            <a:ext cx="11401425" cy="3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Executive Key Performance Indicators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66750" y="956220"/>
            <a:ext cx="10858500" cy="19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866775" y="2675929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TOTAL REVENUE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866775" y="2875954"/>
            <a:ext cx="2171700" cy="95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866775" y="2961679"/>
            <a:ext cx="2171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$494.97M</a:t>
            </a:r>
            <a:endParaRPr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3629025" y="2675929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TOTAL UNITS SOLD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3629025" y="2875954"/>
            <a:ext cx="2171700" cy="95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3629025" y="2961679"/>
            <a:ext cx="2171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</a:t>
            </a:r>
            <a:r>
              <a:rPr lang="en-US" sz="2400" b="1" i="0" u="none" strike="noStrike" cap="none" dirty="0" smtClean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</a:t>
            </a:r>
            <a:endParaRPr dirty="0"/>
          </a:p>
        </p:txBody>
      </p:sp>
      <p:sp>
        <p:nvSpPr>
          <p:cNvPr id="210" name="Google Shape;210;p19"/>
          <p:cNvSpPr txBox="1"/>
          <p:nvPr/>
        </p:nvSpPr>
        <p:spPr>
          <a:xfrm>
            <a:off x="6391275" y="2675929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TOTAL UNITS ORDERED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6391275" y="2875954"/>
            <a:ext cx="2171700" cy="95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391275" y="2961679"/>
            <a:ext cx="2171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</a:t>
            </a:r>
            <a:r>
              <a:rPr lang="en-US" sz="2400" b="1" i="0" u="none" strike="noStrike" cap="none" dirty="0" smtClean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</a:t>
            </a:r>
            <a:endParaRPr dirty="0"/>
          </a:p>
        </p:txBody>
      </p:sp>
      <p:sp>
        <p:nvSpPr>
          <p:cNvPr id="213" name="Google Shape;213;p19"/>
          <p:cNvSpPr txBox="1"/>
          <p:nvPr/>
        </p:nvSpPr>
        <p:spPr>
          <a:xfrm>
            <a:off x="9153525" y="2675929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5803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STOCKOUT OCCURRENCES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9153525" y="2875954"/>
            <a:ext cx="2171700" cy="95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9153525" y="2961679"/>
            <a:ext cx="21717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5803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171575" y="4152304"/>
            <a:ext cx="476059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4530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Operational Success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866775" y="4580929"/>
            <a:ext cx="48387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Having </a:t>
            </a:r>
            <a:r>
              <a:rPr lang="en-US" sz="1012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Stockout Occurrences</a:t>
            </a:r>
            <a:r>
              <a:rPr lang="en-US" sz="1012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ensures absolute customer goodwill and continuous market presence across all regional hubs.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848475" y="4152304"/>
            <a:ext cx="47005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4530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Balanced Flow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486525" y="4580929"/>
            <a:ext cx="48387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direct 1:1 balance of </a:t>
            </a:r>
            <a:r>
              <a:rPr lang="en-US" sz="1012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2M Units Sold vs. 2M Units Ordered</a:t>
            </a:r>
            <a:r>
              <a:rPr lang="en-US" sz="1012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highlights a highly streamlined, zero-leak transactional loop.</a:t>
            </a:r>
            <a:endParaRPr dirty="0"/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419040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6525" y="4190404"/>
            <a:ext cx="2667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261020"/>
            <a:ext cx="10858500" cy="512072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666750" y="476250"/>
            <a:ext cx="11401425" cy="3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Revenue &amp; Inventory Segmentation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66750" y="956220"/>
            <a:ext cx="10858500" cy="19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261020"/>
            <a:ext cx="10858500" cy="512072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666750" y="476250"/>
            <a:ext cx="11401425" cy="3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Units Sold vs Demand Forecast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666750" y="956220"/>
            <a:ext cx="10858500" cy="19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910137" y="2557462"/>
            <a:ext cx="23717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TIER 2 DASHBOARD FOCUS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395287" y="2747962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Demand Forecasting &amp; Supply Chain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2524125" y="3529012"/>
            <a:ext cx="71437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closer look at statistical modeling health, promotional metrics, and localized accuracy </a:t>
            </a:r>
            <a:r>
              <a:rPr lang="en-US" sz="1350" b="0" i="0" u="none" strike="noStrike" cap="none" dirty="0" smtClean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tables.</a:t>
            </a:r>
            <a:endParaRPr dirty="0"/>
          </a:p>
        </p:txBody>
      </p:sp>
      <p:sp>
        <p:nvSpPr>
          <p:cNvPr id="246" name="Google Shape;246;p22"/>
          <p:cNvSpPr/>
          <p:nvPr/>
        </p:nvSpPr>
        <p:spPr>
          <a:xfrm>
            <a:off x="5715000" y="4281487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261020"/>
            <a:ext cx="10858500" cy="5120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09154"/>
            <a:ext cx="34924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650" y="1809154"/>
            <a:ext cx="3492549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2700" y="1809154"/>
            <a:ext cx="34924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666750" y="476250"/>
            <a:ext cx="11401425" cy="3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Planning Metrics &amp; Environmental Impacts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666750" y="956220"/>
            <a:ext cx="10858500" cy="19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866775" y="2009179"/>
            <a:ext cx="3092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FORECAST ACCURACY %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866775" y="2209204"/>
            <a:ext cx="3092350" cy="95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866775" y="2294929"/>
            <a:ext cx="30923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93.89%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4549675" y="2009179"/>
            <a:ext cx="309249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FORECAST ERROR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4549675" y="2209204"/>
            <a:ext cx="3092499" cy="95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4549675" y="2294929"/>
            <a:ext cx="309249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368K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232725" y="2009179"/>
            <a:ext cx="3092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AVERAGE OF DISCOUNT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8232725" y="2209204"/>
            <a:ext cx="3092350" cy="95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8232725" y="2294929"/>
            <a:ext cx="30923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10.01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40185"/>
            <a:ext cx="1085850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666750" y="476250"/>
            <a:ext cx="11401425" cy="3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Regional Performance Matrix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666750" y="956220"/>
            <a:ext cx="10858500" cy="19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666750" y="4830960"/>
            <a:ext cx="10858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source: SUPPLY CHAIN PERFORMANCE GRID from Screenshot 2026-06-19 210529.png. Model performance displays identical, highly stable forecasting health across all geographic zones.</a:t>
            </a:r>
            <a:endParaRPr/>
          </a:p>
        </p:txBody>
      </p:sp>
      <p:graphicFrame>
        <p:nvGraphicFramePr>
          <p:cNvPr id="276" name="Google Shape;276;p24"/>
          <p:cNvGraphicFramePr/>
          <p:nvPr/>
        </p:nvGraphicFramePr>
        <p:xfrm>
          <a:off x="676275" y="2449710"/>
          <a:ext cx="10839425" cy="2228850"/>
        </p:xfrm>
        <a:graphic>
          <a:graphicData uri="http://schemas.openxmlformats.org/drawingml/2006/table">
            <a:tbl>
              <a:tblPr firstRow="1" bandRow="1">
                <a:noFill/>
                <a:tableStyleId>{A550AC84-4786-4743-982B-5C3C9C9D7400}</a:tableStyleId>
              </a:tblPr>
              <a:tblGrid>
                <a:gridCol w="233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9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Category / 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East Region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North Region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South Region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West Region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Total Average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Clothing</a:t>
                      </a: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(Accuracy 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93.92%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93.84%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93.88%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93.85%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93.88%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Absolute Forecast Error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45,138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45,302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46,500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45,899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182,839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Electronics</a:t>
                      </a: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(Accuracy 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94.01%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93.93%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94.12%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93.90%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93.99%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Absolute Forecast Error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23,273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22,772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21,989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22,958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90,992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Global Model Summary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D5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93.96%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D5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93.88%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D5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93.89%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D5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93.83%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D5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93.89%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D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" name="Google Shape;277;p24"/>
          <p:cNvSpPr/>
          <p:nvPr/>
        </p:nvSpPr>
        <p:spPr>
          <a:xfrm>
            <a:off x="676275" y="3187898"/>
            <a:ext cx="2335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3011983" y="3187898"/>
            <a:ext cx="1571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4583906" y="3187898"/>
            <a:ext cx="1767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6351537" y="3187898"/>
            <a:ext cx="1742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8093868" y="3187898"/>
            <a:ext cx="1622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9716244" y="3187898"/>
            <a:ext cx="1799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676275" y="3559373"/>
            <a:ext cx="2335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011983" y="3559373"/>
            <a:ext cx="1571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4583906" y="3559373"/>
            <a:ext cx="1767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6351537" y="3559373"/>
            <a:ext cx="1742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8093868" y="3559373"/>
            <a:ext cx="1622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9716244" y="3559373"/>
            <a:ext cx="1799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676275" y="3930848"/>
            <a:ext cx="2335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3011983" y="3930848"/>
            <a:ext cx="1571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4583906" y="3930848"/>
            <a:ext cx="1767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351537" y="3930848"/>
            <a:ext cx="1742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8093868" y="3930848"/>
            <a:ext cx="1622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9716244" y="3930848"/>
            <a:ext cx="1799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676275" y="4302323"/>
            <a:ext cx="2335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3011983" y="4302323"/>
            <a:ext cx="1571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4583906" y="4302323"/>
            <a:ext cx="1767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351537" y="4302323"/>
            <a:ext cx="1742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8093868" y="4302323"/>
            <a:ext cx="1622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9716244" y="4302323"/>
            <a:ext cx="1799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4905375" y="2557462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TIER 3 DASHBOARD FOCUS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395287" y="2747962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Store-Level Operational Action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2524125" y="3529012"/>
            <a:ext cx="71437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Operationalizing insights into price premium policies, active margins, and daily localized </a:t>
            </a:r>
            <a:r>
              <a:rPr lang="en-US" sz="1350" b="0" i="0" u="none" strike="noStrike" cap="none" dirty="0" smtClean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tasks.</a:t>
            </a:r>
            <a:endParaRPr dirty="0"/>
          </a:p>
        </p:txBody>
      </p:sp>
      <p:sp>
        <p:nvSpPr>
          <p:cNvPr id="309" name="Google Shape;309;p25"/>
          <p:cNvSpPr/>
          <p:nvPr/>
        </p:nvSpPr>
        <p:spPr>
          <a:xfrm>
            <a:off x="5715000" y="4281487"/>
            <a:ext cx="762000" cy="38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261020"/>
            <a:ext cx="10858500" cy="5120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963935"/>
            <a:ext cx="34924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650" y="1963935"/>
            <a:ext cx="3492549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32700" y="1963935"/>
            <a:ext cx="34924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 txBox="1"/>
          <p:nvPr/>
        </p:nvSpPr>
        <p:spPr>
          <a:xfrm>
            <a:off x="666750" y="476250"/>
            <a:ext cx="11401425" cy="3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Tier 3 Operational Indicators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666750" y="956220"/>
            <a:ext cx="10858500" cy="19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866775" y="2163960"/>
            <a:ext cx="3092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5803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STOCKOUT OCCURRENCES</a:t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866775" y="2363985"/>
            <a:ext cx="3092350" cy="95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866775" y="2449710"/>
            <a:ext cx="30923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5803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4549675" y="2163960"/>
            <a:ext cx="309249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OVERSTOCKED PRODUCTS COUNT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4549675" y="2363985"/>
            <a:ext cx="3092499" cy="95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4549675" y="2449710"/>
            <a:ext cx="309249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64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8232725" y="2163960"/>
            <a:ext cx="3092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PRICE PREMIUM</a:t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8232725" y="2363985"/>
            <a:ext cx="3092350" cy="952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8232725" y="2449710"/>
            <a:ext cx="30923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($0.10)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283023"/>
            <a:ext cx="10858500" cy="274796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7"/>
          <p:cNvSpPr txBox="1"/>
          <p:nvPr/>
        </p:nvSpPr>
        <p:spPr>
          <a:xfrm>
            <a:off x="666750" y="476250"/>
            <a:ext cx="11401425" cy="3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Store Manager's Live Action Grid</a:t>
            </a:r>
            <a:endParaRPr/>
          </a:p>
        </p:txBody>
      </p:sp>
      <p:sp>
        <p:nvSpPr>
          <p:cNvPr id="337" name="Google Shape;337;p27"/>
          <p:cNvSpPr/>
          <p:nvPr/>
        </p:nvSpPr>
        <p:spPr>
          <a:xfrm>
            <a:off x="666750" y="956220"/>
            <a:ext cx="10858500" cy="190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666750" y="5173860"/>
            <a:ext cx="108585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Prescriptive check sheet mapped directly to localized manager logins, enabling dynamic markdown triggers in real-time.</a:t>
            </a:r>
            <a:endParaRPr/>
          </a:p>
        </p:txBody>
      </p:sp>
      <p:graphicFrame>
        <p:nvGraphicFramePr>
          <p:cNvPr id="339" name="Google Shape;339;p27"/>
          <p:cNvGraphicFramePr/>
          <p:nvPr/>
        </p:nvGraphicFramePr>
        <p:xfrm>
          <a:off x="676275" y="2292548"/>
          <a:ext cx="10839450" cy="2728950"/>
        </p:xfrm>
        <a:graphic>
          <a:graphicData uri="http://schemas.openxmlformats.org/drawingml/2006/table">
            <a:tbl>
              <a:tblPr firstRow="1" bandRow="1">
                <a:noFill/>
                <a:tableStyleId>{A550AC84-4786-4743-982B-5C3C9C9D7400}</a:tableStyleId>
              </a:tblPr>
              <a:tblGrid>
                <a:gridCol w="13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Store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Product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Sum of Demand Forecast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AF8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Inventory Status State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S003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P0001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Clothing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Optimal Stock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P0001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Clothing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Overstocked Surplus</a:t>
                      </a:r>
                      <a:endParaRPr/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P0001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Electronics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Optimal Stock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P0002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Furniture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Understocked Risk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S003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P0002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Groceries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235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Overstocked Surplus</a:t>
                      </a:r>
                      <a:endParaRPr/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0" name="Google Shape;340;p27"/>
          <p:cNvSpPr/>
          <p:nvPr/>
        </p:nvSpPr>
        <p:spPr>
          <a:xfrm>
            <a:off x="676275" y="3130748"/>
            <a:ext cx="1346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2022276" y="3130748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3680073" y="3130748"/>
            <a:ext cx="1530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5210323" y="3130748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8384083" y="3130748"/>
            <a:ext cx="3131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676275" y="3602235"/>
            <a:ext cx="1346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2022276" y="3602235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3680073" y="3602235"/>
            <a:ext cx="1530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5210323" y="3602235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8384083" y="3602235"/>
            <a:ext cx="3131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676275" y="4073723"/>
            <a:ext cx="1346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2022276" y="4073723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3680073" y="4073723"/>
            <a:ext cx="1530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5210323" y="4073723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8384083" y="4073723"/>
            <a:ext cx="3131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676275" y="4545210"/>
            <a:ext cx="1346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2022276" y="4545210"/>
            <a:ext cx="1657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3680073" y="4545210"/>
            <a:ext cx="1530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5210323" y="4545210"/>
            <a:ext cx="31737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8384083" y="4545210"/>
            <a:ext cx="3131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36483" y="2778323"/>
            <a:ext cx="1352550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36483" y="3249810"/>
            <a:ext cx="1800225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36483" y="3721298"/>
            <a:ext cx="1352550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36483" y="4192785"/>
            <a:ext cx="1666875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36483" y="4664273"/>
            <a:ext cx="1800225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12683" y="283309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12683" y="377606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12683" y="330457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12683" y="471904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2683" y="424755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12683" y="283309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12683" y="330457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12683" y="377606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2683" y="424755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12683" y="4719042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0375" y="3369468"/>
            <a:ext cx="619125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 flipH="1">
            <a:off x="4114799" y="2733041"/>
            <a:ext cx="51714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604</Words>
  <Application>Microsoft Office PowerPoint</Application>
  <PresentationFormat>Widescreen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Plus Jakarta Sans SemiBold</vt:lpstr>
      <vt:lpstr>Arial</vt:lpstr>
      <vt:lpstr>Times New Roman</vt:lpstr>
      <vt:lpstr>Playfair Display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4</cp:revision>
  <dcterms:modified xsi:type="dcterms:W3CDTF">2026-06-19T18:16:39Z</dcterms:modified>
</cp:coreProperties>
</file>